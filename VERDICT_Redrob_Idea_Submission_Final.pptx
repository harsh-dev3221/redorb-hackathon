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766560" y="685800"/>
            <a:ext cx="42976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31152" y="850392"/>
            <a:ext cx="132588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880" b="1">
                <a:solidFill>
                  <a:srgbClr val="6D28D9"/>
                </a:solidFill>
                <a:latin typeface="Aptos"/>
              </a:defRPr>
            </a:pPr>
            <a:r>
              <a:t>Judgment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67728" y="1188720"/>
            <a:ext cx="3895344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JD rules over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965960"/>
            <a:ext cx="33832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54112" y="2130552"/>
            <a:ext cx="1325880" cy="292608"/>
          </a:xfrm>
          <a:prstGeom prst="roundRect">
            <a:avLst/>
          </a:prstGeom>
          <a:solidFill>
            <a:srgbClr val="E0EBFF"/>
          </a:solidFill>
          <a:ln w="12700">
            <a:solidFill>
              <a:srgbClr val="E0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880" b="1">
                <a:solidFill>
                  <a:srgbClr val="2563EB"/>
                </a:solidFill>
                <a:latin typeface="Aptos"/>
              </a:defRPr>
            </a:pPr>
            <a:r>
              <a:t>Credibility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0688" y="2468880"/>
            <a:ext cx="2980944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Trust and contradiction 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3246120"/>
            <a:ext cx="40233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96912" y="3410712"/>
            <a:ext cx="1325880" cy="292608"/>
          </a:xfrm>
          <a:prstGeom prst="roundRect">
            <a:avLst/>
          </a:prstGeom>
          <a:solidFill>
            <a:srgbClr val="DBF5EB"/>
          </a:solidFill>
          <a:ln w="12700">
            <a:solidFill>
              <a:srgbClr val="DB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880" b="1">
                <a:solidFill>
                  <a:srgbClr val="117F5B"/>
                </a:solidFill>
                <a:latin typeface="Aptos"/>
              </a:defRPr>
            </a:pPr>
            <a:r>
              <a:t>Availability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3749039"/>
            <a:ext cx="3621024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Behavioral reachability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4526280"/>
            <a:ext cx="28346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19871" y="4690872"/>
            <a:ext cx="1325880" cy="292608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FFF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880" b="1">
                <a:solidFill>
                  <a:srgbClr val="B47414"/>
                </a:solidFill>
                <a:latin typeface="Aptos"/>
              </a:defRPr>
            </a:pPr>
            <a:r>
              <a:t>No-network 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5029200"/>
            <a:ext cx="2432304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Pure CPU artifact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64592"/>
            <a:ext cx="13258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redrob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164592"/>
            <a:ext cx="150876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INDIA.RUNS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051560"/>
            <a:ext cx="57150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VERDICT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1700784"/>
            <a:ext cx="621792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800" b="1">
                <a:solidFill>
                  <a:srgbClr val="CBD5E1"/>
                </a:solidFill>
                <a:latin typeface="Aptos"/>
              </a:defRPr>
            </a:pPr>
            <a:r>
              <a:t>Verified Evidence, Rubric-Driven Inference and Calibrated Triage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2542032"/>
            <a:ext cx="5394960" cy="6583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A deterministic ranking system for the Redrob Intelligent Candidate Discovery and Ranking Challenge.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657600"/>
            <a:ext cx="53035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BAE6FD"/>
                </a:solidFill>
                <a:latin typeface="Aptos"/>
              </a:defRPr>
            </a:pPr>
            <a:r>
              <a:t>Senior AI Engineer - Founding Team JD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096512"/>
            <a:ext cx="53035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ptos"/>
              </a:defRPr>
            </a:pPr>
            <a:r>
              <a:t>Ranks top 100 from 100,000 candidates under CPU-only, no-network, 5-minute constraints.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715000"/>
            <a:ext cx="39319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50" b="1">
                <a:solidFill>
                  <a:srgbClr val="CBD5E1"/>
                </a:solidFill>
                <a:latin typeface="Aptos"/>
              </a:defRPr>
            </a:pPr>
            <a:r>
              <a:t>Team verdict | Harsh Patel | Solo participant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redrob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37160"/>
            <a:ext cx="10972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750" b="1">
                <a:solidFill>
                  <a:srgbClr val="117F5B"/>
                </a:solidFill>
                <a:latin typeface="Aptos"/>
              </a:defRPr>
            </a:pPr>
            <a:r>
              <a:t>WHO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91440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INDIA.RUNS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836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117F5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804672"/>
            <a:ext cx="9509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 Display"/>
              </a:defRPr>
            </a:pPr>
            <a:r>
              <a:t>Why Similarity Fails This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243584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0">
                <a:solidFill>
                  <a:srgbClr val="5C677A"/>
                </a:solidFill>
                <a:latin typeface="Aptos"/>
              </a:defRPr>
            </a:pPr>
            <a:r>
              <a:t>The challenge is designed to punish systems that count AI keywords instead of judging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3383280" cy="1170432"/>
          </a:xfrm>
          <a:prstGeom prst="roundRect">
            <a:avLst/>
          </a:prstGeom>
          <a:solidFill>
            <a:srgbClr val="FFE8EB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91640"/>
            <a:ext cx="73152" cy="1170432"/>
          </a:xfrm>
          <a:prstGeom prst="rect">
            <a:avLst/>
          </a:prstGeom>
          <a:solidFill>
            <a:srgbClr val="BE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56232"/>
            <a:ext cx="301752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1">
                <a:solidFill>
                  <a:srgbClr val="BE2D3C"/>
                </a:solidFill>
                <a:latin typeface="Aptos"/>
              </a:defRPr>
            </a:pPr>
            <a:r>
              <a:t>Trap 1: keyword stuffer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167128"/>
            <a:ext cx="3035808" cy="576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20" b="0">
                <a:solidFill>
                  <a:srgbClr val="181F2C"/>
                </a:solidFill>
                <a:latin typeface="Aptos"/>
              </a:defRPr>
            </a:pPr>
            <a:r>
              <a:t>Looks perfect by skills list. Narrative does not prove shipped AI/search systems.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91640"/>
            <a:ext cx="3383280" cy="1170432"/>
          </a:xfrm>
          <a:prstGeom prst="roundRect">
            <a:avLst/>
          </a:prstGeom>
          <a:solidFill>
            <a:srgbClr val="DBF5EB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691640"/>
            <a:ext cx="73152" cy="1170432"/>
          </a:xfrm>
          <a:prstGeom prst="rect">
            <a:avLst/>
          </a:prstGeom>
          <a:solidFill>
            <a:srgbClr val="117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7" y="1856232"/>
            <a:ext cx="301752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1">
                <a:solidFill>
                  <a:srgbClr val="117F5B"/>
                </a:solidFill>
                <a:latin typeface="Aptos"/>
              </a:defRPr>
            </a:pPr>
            <a:r>
              <a:t>Trap 2: hidden gem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167128"/>
            <a:ext cx="3035808" cy="576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20" b="0">
                <a:solidFill>
                  <a:srgbClr val="181F2C"/>
                </a:solidFill>
                <a:latin typeface="Aptos"/>
              </a:defRPr>
            </a:pPr>
            <a:r>
              <a:t>Plain-language profile says product-search or recommendation work without buzzwords.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91640"/>
            <a:ext cx="3383280" cy="1170432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691640"/>
            <a:ext cx="73152" cy="1170432"/>
          </a:xfrm>
          <a:prstGeom prst="rect">
            <a:avLst/>
          </a:prstGeom>
          <a:solidFill>
            <a:srgbClr val="B47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1856232"/>
            <a:ext cx="301752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1">
                <a:solidFill>
                  <a:srgbClr val="B47414"/>
                </a:solidFill>
                <a:latin typeface="Aptos"/>
              </a:defRPr>
            </a:pPr>
            <a:r>
              <a:t>Trap 3: ghost candidate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167128"/>
            <a:ext cx="3035808" cy="576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20" b="0">
                <a:solidFill>
                  <a:srgbClr val="181F2C"/>
                </a:solidFill>
                <a:latin typeface="Aptos"/>
              </a:defRPr>
            </a:pPr>
            <a:r>
              <a:t>Strong on paper but stale activity, slow response, low recruiter engagement.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520440"/>
            <a:ext cx="48006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703320"/>
            <a:ext cx="42519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BE2D3C"/>
                </a:solidFill>
                <a:latin typeface="Aptos"/>
              </a:defRPr>
            </a:pPr>
            <a:r>
              <a:t>What a cosine / keyword ranker sees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4069080"/>
            <a:ext cx="4206240" cy="822960"/>
          </a:xfrm>
          <a:prstGeom prst="rect">
            <a:avLst/>
          </a:prstGeom>
          <a:noFill/>
        </p:spPr>
        <p:txBody>
          <a:bodyPr wrap="square" lIns="54864" rIns="36576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81F2C"/>
                </a:solidFill>
                <a:latin typeface="Aptos"/>
              </a:defRPr>
            </a:pPr>
            <a:r>
              <a:t>Skills list has RAG, Pinecone, LangChain</a:t>
            </a:r>
          </a:p>
          <a:p>
            <a:pPr>
              <a:spcAft>
                <a:spcPts val="500"/>
              </a:spcAft>
              <a:defRPr sz="1120">
                <a:solidFill>
                  <a:srgbClr val="181F2C"/>
                </a:solidFill>
                <a:latin typeface="Aptos"/>
              </a:defRPr>
            </a:pPr>
            <a:r>
              <a:t>JD text overlap is high</a:t>
            </a:r>
          </a:p>
          <a:p>
            <a:pPr>
              <a:spcAft>
                <a:spcPts val="500"/>
              </a:spcAft>
              <a:defRPr sz="1120">
                <a:solidFill>
                  <a:srgbClr val="181F2C"/>
                </a:solidFill>
                <a:latin typeface="Aptos"/>
              </a:defRPr>
            </a:pPr>
            <a:r>
              <a:t>Behavior and contradictions are invisible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3520440"/>
            <a:ext cx="48006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02552" y="3703320"/>
            <a:ext cx="42519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117F5B"/>
                </a:solidFill>
                <a:latin typeface="Aptos"/>
              </a:defRPr>
            </a:pPr>
            <a:r>
              <a:t>What VERDICT judges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2552" y="4069080"/>
            <a:ext cx="4206240" cy="822960"/>
          </a:xfrm>
          <a:prstGeom prst="rect">
            <a:avLst/>
          </a:prstGeom>
          <a:noFill/>
        </p:spPr>
        <p:txBody>
          <a:bodyPr wrap="square" lIns="54864" rIns="36576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81F2C"/>
                </a:solidFill>
                <a:latin typeface="Aptos"/>
              </a:defRPr>
            </a:pPr>
            <a:r>
              <a:t>Did they ship the capability?</a:t>
            </a:r>
          </a:p>
          <a:p>
            <a:pPr>
              <a:spcAft>
                <a:spcPts val="500"/>
              </a:spcAft>
              <a:defRPr sz="1120">
                <a:solidFill>
                  <a:srgbClr val="181F2C"/>
                </a:solidFill>
                <a:latin typeface="Aptos"/>
              </a:defRPr>
            </a:pPr>
            <a:r>
              <a:t>Do internal claims agree?</a:t>
            </a:r>
          </a:p>
          <a:p>
            <a:pPr>
              <a:spcAft>
                <a:spcPts val="500"/>
              </a:spcAft>
              <a:defRPr sz="1120">
                <a:solidFill>
                  <a:srgbClr val="181F2C"/>
                </a:solidFill>
                <a:latin typeface="Aptos"/>
              </a:defRPr>
            </a:pPr>
            <a:r>
              <a:t>Can recruiters actually reach them?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79008" y="4096512"/>
            <a:ext cx="438912" cy="438912"/>
          </a:xfrm>
          <a:prstGeom prst="roundRect">
            <a:avLst/>
          </a:prstGeom>
          <a:solidFill>
            <a:srgbClr val="E0EBFF"/>
          </a:solidFill>
          <a:ln w="12700">
            <a:solidFill>
              <a:srgbClr val="E0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800" b="1">
                <a:solidFill>
                  <a:srgbClr val="2563EB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510528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850" b="0">
                <a:solidFill>
                  <a:srgbClr val="5C677A"/>
                </a:solidFill>
                <a:latin typeface="Aptos"/>
              </a:defRPr>
            </a:pPr>
            <a:r>
              <a:t>02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" y="6382512"/>
            <a:ext cx="10817352" cy="0"/>
          </a:xfrm>
          <a:prstGeom prst="line">
            <a:avLst/>
          </a:prstGeom>
          <a:ln w="10160">
            <a:solidFill>
              <a:srgbClr val="D2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redrob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37160"/>
            <a:ext cx="10972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750" b="1">
                <a:solidFill>
                  <a:srgbClr val="117F5B"/>
                </a:solidFill>
                <a:latin typeface="Aptos"/>
              </a:defRPr>
            </a:pPr>
            <a:r>
              <a:t>WHO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91440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INDIA.RUNS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836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117F5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804672"/>
            <a:ext cx="9509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 Display"/>
              </a:defRPr>
            </a:pPr>
            <a:r>
              <a:t>JD Understanding: Compile the Role Into Recruiter Instincts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243584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0">
                <a:solidFill>
                  <a:srgbClr val="5C677A"/>
                </a:solidFill>
                <a:latin typeface="Aptos"/>
              </a:defRPr>
            </a:pPr>
            <a:r>
              <a:t>The JD is treated as an executable rubric, not as a bag of keywords.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27432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22402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Role target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240280"/>
            <a:ext cx="1645920" cy="292608"/>
          </a:xfrm>
          <a:prstGeom prst="roundRect">
            <a:avLst/>
          </a:prstGeom>
          <a:solidFill>
            <a:srgbClr val="E0EBFF"/>
          </a:solidFill>
          <a:ln w="12700">
            <a:solidFill>
              <a:srgbClr val="E0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880" b="1">
                <a:solidFill>
                  <a:srgbClr val="2563EB"/>
                </a:solidFill>
                <a:latin typeface="Aptos"/>
              </a:defRPr>
            </a:pPr>
            <a:r>
              <a:t>Senior AI Engineer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624328"/>
            <a:ext cx="1325880" cy="292608"/>
          </a:xfrm>
          <a:prstGeom prst="roundRect">
            <a:avLst/>
          </a:prstGeom>
          <a:solidFill>
            <a:srgbClr val="DBF5EB"/>
          </a:solidFill>
          <a:ln w="12700">
            <a:solidFill>
              <a:srgbClr val="DB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880" b="1">
                <a:solidFill>
                  <a:srgbClr val="117F5B"/>
                </a:solidFill>
                <a:latin typeface="Aptos"/>
              </a:defRPr>
            </a:pPr>
            <a:r>
              <a:t>Founding team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008376"/>
            <a:ext cx="1234440" cy="292608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FFF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880" b="1">
                <a:solidFill>
                  <a:srgbClr val="B47414"/>
                </a:solidFill>
                <a:latin typeface="Aptos"/>
              </a:defRPr>
            </a:pPr>
            <a:r>
              <a:t>India-ready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47872"/>
            <a:ext cx="2148840" cy="1371600"/>
          </a:xfrm>
          <a:prstGeom prst="rect">
            <a:avLst/>
          </a:prstGeom>
          <a:noFill/>
        </p:spPr>
        <p:txBody>
          <a:bodyPr wrap="square" lIns="54864" rIns="36576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81F2C"/>
                </a:solidFill>
                <a:latin typeface="Aptos"/>
              </a:defRPr>
            </a:pPr>
            <a:r>
              <a:t>Production AI/search/reco judgment</a:t>
            </a:r>
          </a:p>
          <a:p>
            <a:pPr>
              <a:spcAft>
                <a:spcPts val="500"/>
              </a:spcAft>
              <a:defRPr sz="1100">
                <a:solidFill>
                  <a:srgbClr val="181F2C"/>
                </a:solidFill>
                <a:latin typeface="Aptos"/>
              </a:defRPr>
            </a:pPr>
            <a:r>
              <a:t>Scrappy builder trajectory</a:t>
            </a:r>
          </a:p>
          <a:p>
            <a:pPr>
              <a:spcAft>
                <a:spcPts val="500"/>
              </a:spcAft>
              <a:defRPr sz="1100">
                <a:solidFill>
                  <a:srgbClr val="181F2C"/>
                </a:solidFill>
                <a:latin typeface="Aptos"/>
              </a:defRPr>
            </a:pPr>
            <a:r>
              <a:t>High bar for notice and response risk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600200"/>
            <a:ext cx="1325880" cy="4389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Instinct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1600200"/>
            <a:ext cx="3657600" cy="4389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600200"/>
            <a:ext cx="1828800" cy="4389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Scored by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86200" y="2039112"/>
            <a:ext cx="13258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060" b="1">
                <a:solidFill>
                  <a:srgbClr val="181F2C"/>
                </a:solidFill>
                <a:latin typeface="Aptos"/>
              </a:defRPr>
            </a:pPr>
            <a:r>
              <a:t>Substance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0" y="2039112"/>
            <a:ext cx="36576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defRPr sz="1019" b="0">
                <a:solidFill>
                  <a:srgbClr val="181F2C"/>
                </a:solidFill>
                <a:latin typeface="Aptos"/>
              </a:defRPr>
            </a:pPr>
            <a:r>
              <a:t>Did they do it or just say it?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2039112"/>
            <a:ext cx="1828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060" b="0">
                <a:solidFill>
                  <a:srgbClr val="181F2C"/>
                </a:solidFill>
                <a:latin typeface="Aptos"/>
              </a:defRPr>
            </a:pPr>
            <a:r>
              <a:t>J + 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6200" y="2825496"/>
            <a:ext cx="132588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060" b="1">
                <a:solidFill>
                  <a:srgbClr val="181F2C"/>
                </a:solidFill>
                <a:latin typeface="Aptos"/>
              </a:defRPr>
            </a:pPr>
            <a:r>
              <a:t>Adjacency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2825496"/>
            <a:ext cx="365760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defRPr sz="1019" b="0">
                <a:solidFill>
                  <a:srgbClr val="181F2C"/>
                </a:solidFill>
                <a:latin typeface="Aptos"/>
              </a:defRPr>
            </a:pPr>
            <a:r>
              <a:t>Can plain-language evidence imply fit?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2825496"/>
            <a:ext cx="182880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060" b="0">
                <a:solidFill>
                  <a:srgbClr val="181F2C"/>
                </a:solidFill>
                <a:latin typeface="Aptos"/>
              </a:defRPr>
            </a:pPr>
            <a:r>
              <a:t>J predicates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86200" y="3611880"/>
            <a:ext cx="13258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060" b="1">
                <a:solidFill>
                  <a:srgbClr val="181F2C"/>
                </a:solidFill>
                <a:latin typeface="Aptos"/>
              </a:defRPr>
            </a:pPr>
            <a:r>
              <a:t>Stability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3611880"/>
            <a:ext cx="36576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defRPr sz="1019" b="0">
                <a:solidFill>
                  <a:srgbClr val="181F2C"/>
                </a:solidFill>
                <a:latin typeface="Aptos"/>
              </a:defRPr>
            </a:pPr>
            <a:r>
              <a:t>Will this person stay and execute?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3611880"/>
            <a:ext cx="1828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060" b="0">
                <a:solidFill>
                  <a:srgbClr val="181F2C"/>
                </a:solidFill>
                <a:latin typeface="Aptos"/>
              </a:defRPr>
            </a:pPr>
            <a:r>
              <a:t>J dampeners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86200" y="4398264"/>
            <a:ext cx="132588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060" b="1">
                <a:solidFill>
                  <a:srgbClr val="181F2C"/>
                </a:solidFill>
                <a:latin typeface="Aptos"/>
              </a:defRPr>
            </a:pPr>
            <a:r>
              <a:t>Reachability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0" y="4398264"/>
            <a:ext cx="365760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defRPr sz="1019" b="0">
                <a:solidFill>
                  <a:srgbClr val="181F2C"/>
                </a:solidFill>
                <a:latin typeface="Aptos"/>
              </a:defRPr>
            </a:pPr>
            <a:r>
              <a:t>Will they answer and join?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4398264"/>
            <a:ext cx="182880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060" b="0">
                <a:solidFill>
                  <a:srgbClr val="181F2C"/>
                </a:solidFill>
                <a:latin typeface="Aptos"/>
              </a:defRPr>
            </a:pPr>
            <a:r>
              <a:t>A behavioral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86200" y="5074920"/>
            <a:ext cx="6812280" cy="594360"/>
          </a:xfrm>
          <a:prstGeom prst="roundRect">
            <a:avLst/>
          </a:prstGeom>
          <a:solidFill>
            <a:srgbClr val="DBF5EB"/>
          </a:solidFill>
          <a:ln w="12700">
            <a:solidFill>
              <a:srgbClr val="DB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96512" y="5230368"/>
            <a:ext cx="635508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17F5B"/>
                </a:solidFill>
                <a:latin typeface="Aptos"/>
              </a:defRPr>
            </a:pPr>
            <a:r>
              <a:t>Ranking answer = what the JD means, not which profile repeats its words.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27080" y="6510528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850" b="0">
                <a:solidFill>
                  <a:srgbClr val="5C677A"/>
                </a:solidFill>
                <a:latin typeface="Aptos"/>
              </a:defRPr>
            </a:pPr>
            <a:r>
              <a:t>03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" y="6382512"/>
            <a:ext cx="10817352" cy="0"/>
          </a:xfrm>
          <a:prstGeom prst="line">
            <a:avLst/>
          </a:prstGeom>
          <a:ln w="10160">
            <a:solidFill>
              <a:srgbClr val="D2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redrob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37160"/>
            <a:ext cx="10972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750" b="1">
                <a:solidFill>
                  <a:srgbClr val="117F5B"/>
                </a:solidFill>
                <a:latin typeface="Aptos"/>
              </a:defRPr>
            </a:pPr>
            <a:r>
              <a:t>WHO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91440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INDIA.RUNS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836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117F5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804672"/>
            <a:ext cx="9509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 Display"/>
              </a:defRPr>
            </a:pPr>
            <a:r>
              <a:t>Core Scoring Formula: Separate the Three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243584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0">
                <a:solidFill>
                  <a:srgbClr val="5C677A"/>
                </a:solidFill>
                <a:latin typeface="Aptos"/>
              </a:defRPr>
            </a:pPr>
            <a:r>
              <a:t>The final score is multiplicative so fake or unreachable candidates cannot buy back failures with keyword overlap.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00200"/>
            <a:ext cx="1046988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1874519"/>
            <a:ext cx="955548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Score(c) = J(c)^1.0  x  C(c)^0.7  x  A(c)^0.5  x  exp(-flag penalties)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971800"/>
            <a:ext cx="31546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9848" y="3218688"/>
            <a:ext cx="585216" cy="585216"/>
          </a:xfrm>
          <a:prstGeom prst="roundRect">
            <a:avLst/>
          </a:prstGeom>
          <a:solidFill>
            <a:srgbClr val="E0EBFF"/>
          </a:solidFill>
          <a:ln w="12700">
            <a:solidFill>
              <a:srgbClr val="E0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2000" b="1">
                <a:solidFill>
                  <a:srgbClr val="2563EB"/>
                </a:solidFill>
                <a:latin typeface="Aptos"/>
              </a:defRPr>
            </a:pPr>
            <a:r>
              <a:t>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3182112"/>
            <a:ext cx="19202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Aptos"/>
              </a:defRPr>
            </a:pPr>
            <a:r>
              <a:t>Judgment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1368" y="3547872"/>
            <a:ext cx="1874519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80" b="0">
                <a:solidFill>
                  <a:srgbClr val="181F2C"/>
                </a:solidFill>
                <a:latin typeface="Aptos"/>
              </a:defRPr>
            </a:pPr>
            <a:r>
              <a:t>Executes rubric rules over evidence sentences and career signals.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2971800"/>
            <a:ext cx="31546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27448" y="3218688"/>
            <a:ext cx="585216" cy="585216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2000" b="1">
                <a:solidFill>
                  <a:srgbClr val="6D28D9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8968" y="3182112"/>
            <a:ext cx="19202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6D28D9"/>
                </a:solidFill>
                <a:latin typeface="Aptos"/>
              </a:defRPr>
            </a:pPr>
            <a:r>
              <a:t>Credibility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3547872"/>
            <a:ext cx="1874519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80" b="0">
                <a:solidFill>
                  <a:srgbClr val="181F2C"/>
                </a:solidFill>
                <a:latin typeface="Aptos"/>
              </a:defRPr>
            </a:pPr>
            <a:r>
              <a:t>Trust-weights claims; collapses contradictions and honeypots.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2971800"/>
            <a:ext cx="31546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3218688"/>
            <a:ext cx="585216" cy="585216"/>
          </a:xfrm>
          <a:prstGeom prst="roundRect">
            <a:avLst/>
          </a:prstGeom>
          <a:solidFill>
            <a:srgbClr val="DBF5EB"/>
          </a:solidFill>
          <a:ln w="12700">
            <a:solidFill>
              <a:srgbClr val="DB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2000" b="1">
                <a:solidFill>
                  <a:srgbClr val="117F5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567" y="3182112"/>
            <a:ext cx="19202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117F5B"/>
                </a:solidFill>
                <a:latin typeface="Aptos"/>
              </a:defRPr>
            </a:pPr>
            <a:r>
              <a:t>Availability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7" y="3547872"/>
            <a:ext cx="1874519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80" b="0">
                <a:solidFill>
                  <a:srgbClr val="181F2C"/>
                </a:solidFill>
                <a:latin typeface="Aptos"/>
              </a:defRPr>
            </a:pPr>
            <a:r>
              <a:t>Fuses recency, response rate, notice period, verification, logistics.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88720" y="5349240"/>
            <a:ext cx="9646920" cy="512064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FFF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81328" y="5495544"/>
            <a:ext cx="9052560" cy="1737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50" b="1">
                <a:solidFill>
                  <a:srgbClr val="B47414"/>
                </a:solidFill>
                <a:latin typeface="Aptos"/>
              </a:defRPr>
            </a:pPr>
            <a:r>
              <a:t>Why it matters: additive blends let a honeypot compensate with high skill match; multiplicative scoring makes a real zero fatal.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6510528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850" b="0">
                <a:solidFill>
                  <a:srgbClr val="5C677A"/>
                </a:solidFill>
                <a:latin typeface="Aptos"/>
              </a:defRPr>
            </a:pPr>
            <a:r>
              <a:t>04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382512"/>
            <a:ext cx="10817352" cy="0"/>
          </a:xfrm>
          <a:prstGeom prst="line">
            <a:avLst/>
          </a:prstGeom>
          <a:ln w="10160">
            <a:solidFill>
              <a:srgbClr val="D2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redrob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37160"/>
            <a:ext cx="10972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750" b="1">
                <a:solidFill>
                  <a:srgbClr val="117F5B"/>
                </a:solidFill>
                <a:latin typeface="Aptos"/>
              </a:defRPr>
            </a:pPr>
            <a:r>
              <a:t>WHO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91440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INDIA.RUNS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836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117F5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804672"/>
            <a:ext cx="9509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 Display"/>
              </a:defRPr>
            </a:pPr>
            <a:r>
              <a:t>Ranking Methodology: Multi-Stage CPU 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243584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0">
                <a:solidFill>
                  <a:srgbClr val="5C677A"/>
                </a:solidFill>
                <a:latin typeface="Aptos"/>
              </a:defRPr>
            </a:pPr>
            <a:r>
              <a:t>Cheap gates run first; expensive evidence/tournament work touches only the head of the list.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6916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93392"/>
            <a:ext cx="15087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Aptos"/>
              </a:defRPr>
            </a:pPr>
            <a:r>
              <a:t>100,000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40864"/>
            <a:ext cx="1353312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880" b="1">
                <a:solidFill>
                  <a:srgbClr val="5C677A"/>
                </a:solidFill>
                <a:latin typeface="Aptos"/>
              </a:defRPr>
            </a:pPr>
            <a:r>
              <a:t>candidate 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2139696"/>
            <a:ext cx="36576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5C677A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3512" y="1828800"/>
            <a:ext cx="16916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1993392"/>
            <a:ext cx="15087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Aptos"/>
              </a:defRPr>
            </a:pPr>
            <a:r>
              <a:t>76,102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8104" y="2340864"/>
            <a:ext cx="1353312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880" b="1">
                <a:solidFill>
                  <a:srgbClr val="5C677A"/>
                </a:solidFill>
                <a:latin typeface="Aptos"/>
              </a:defRPr>
            </a:pPr>
            <a:r>
              <a:t>hard-gate survivors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139696"/>
            <a:ext cx="36576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5C677A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21224" y="1828800"/>
            <a:ext cx="16916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664" y="1993392"/>
            <a:ext cx="15087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000" b="1">
                <a:solidFill>
                  <a:srgbClr val="147E8B"/>
                </a:solidFill>
                <a:latin typeface="Aptos"/>
              </a:defRPr>
            </a:pPr>
            <a:r>
              <a:t>2,500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5816" y="2340864"/>
            <a:ext cx="1353312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880" b="1">
                <a:solidFill>
                  <a:srgbClr val="5C677A"/>
                </a:solidFill>
                <a:latin typeface="Aptos"/>
              </a:defRPr>
            </a:pPr>
            <a:r>
              <a:t>hybrid 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2139696"/>
            <a:ext cx="36576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5C677A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88936" y="1828800"/>
            <a:ext cx="16916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0375" y="1993392"/>
            <a:ext cx="15087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000" b="1">
                <a:solidFill>
                  <a:srgbClr val="6D28D9"/>
                </a:solidFill>
                <a:latin typeface="Aptos"/>
              </a:defRPr>
            </a:pPr>
            <a:r>
              <a:t>300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2340864"/>
            <a:ext cx="1353312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880" b="1">
                <a:solidFill>
                  <a:srgbClr val="5C677A"/>
                </a:solidFill>
                <a:latin typeface="Aptos"/>
              </a:defRPr>
            </a:pPr>
            <a:r>
              <a:t>tournament head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2139696"/>
            <a:ext cx="36576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5C677A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56648" y="1828800"/>
            <a:ext cx="16916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7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48088" y="1993392"/>
            <a:ext cx="15087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000" b="1">
                <a:solidFill>
                  <a:srgbClr val="117F5B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340864"/>
            <a:ext cx="1353312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880" b="1">
                <a:solidFill>
                  <a:srgbClr val="5C677A"/>
                </a:solidFill>
                <a:latin typeface="Aptos"/>
              </a:defRPr>
            </a:pPr>
            <a:r>
              <a:t>submission CSV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429000"/>
            <a:ext cx="3337560" cy="1234440"/>
          </a:xfrm>
          <a:prstGeom prst="roundRect">
            <a:avLst/>
          </a:prstGeom>
          <a:solidFill>
            <a:srgbClr val="E0EB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342900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3593592"/>
            <a:ext cx="297180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Aptos"/>
              </a:defRPr>
            </a:pPr>
            <a:r>
              <a:t>Recall is not ranking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3904487"/>
            <a:ext cx="2990088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20" b="0">
                <a:solidFill>
                  <a:srgbClr val="181F2C"/>
                </a:solidFill>
                <a:latin typeface="Aptos"/>
              </a:defRPr>
            </a:pPr>
            <a:r>
              <a:t>ABM + BM25 + dense vectors are fused by RRF to find candidates worth scoring. They do not decide final order.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3429000"/>
            <a:ext cx="3337560" cy="1234440"/>
          </a:xfrm>
          <a:prstGeom prst="roundRect">
            <a:avLst/>
          </a:prstGeom>
          <a:solidFill>
            <a:srgbClr val="DCF7FA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34840" y="3429000"/>
            <a:ext cx="73152" cy="1234440"/>
          </a:xfrm>
          <a:prstGeom prst="rect">
            <a:avLst/>
          </a:prstGeom>
          <a:solidFill>
            <a:srgbClr val="1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36007" y="3593592"/>
            <a:ext cx="297180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1">
                <a:solidFill>
                  <a:srgbClr val="147E8B"/>
                </a:solidFill>
                <a:latin typeface="Aptos"/>
              </a:defRPr>
            </a:pPr>
            <a:r>
              <a:t>Evidence predicates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6007" y="3904487"/>
            <a:ext cx="2990088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20" b="0">
                <a:solidFill>
                  <a:srgbClr val="181F2C"/>
                </a:solidFill>
                <a:latin typeface="Aptos"/>
              </a:defRPr>
            </a:pPr>
            <a:r>
              <a:t>Semantic detectors read candidate narrative sentences, not self-declared skill lists.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3429000"/>
            <a:ext cx="3337560" cy="123444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20" y="3429000"/>
            <a:ext cx="73152" cy="1234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47888" y="3593592"/>
            <a:ext cx="297180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1">
                <a:solidFill>
                  <a:srgbClr val="6D28D9"/>
                </a:solidFill>
                <a:latin typeface="Aptos"/>
              </a:defRPr>
            </a:pPr>
            <a:r>
              <a:t>Head tournament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7888" y="3904487"/>
            <a:ext cx="2990088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20" b="0">
                <a:solidFill>
                  <a:srgbClr val="181F2C"/>
                </a:solidFill>
                <a:latin typeface="Aptos"/>
              </a:defRPr>
            </a:pPr>
            <a:r>
              <a:t>Top candidates are compared on rubric dimensions to stabilize NDCG@10 without LLM calls.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28800" y="5349240"/>
            <a:ext cx="8366760" cy="502920"/>
          </a:xfrm>
          <a:prstGeom prst="roundRect">
            <a:avLst/>
          </a:prstGeom>
          <a:solidFill>
            <a:srgbClr val="DBF5EB"/>
          </a:solidFill>
          <a:ln w="12700">
            <a:solidFill>
              <a:srgbClr val="DB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0" y="5486400"/>
            <a:ext cx="781812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1">
                <a:solidFill>
                  <a:srgbClr val="117F5B"/>
                </a:solidFill>
                <a:latin typeface="Aptos"/>
              </a:defRPr>
            </a:pPr>
            <a:r>
              <a:t>Rank step loads precomputed artifacts and runs pure local Python/NumPy. No model, GPU, network, or API at submission time.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27080" y="6510528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850" b="0">
                <a:solidFill>
                  <a:srgbClr val="5C677A"/>
                </a:solidFill>
                <a:latin typeface="Aptos"/>
              </a:defRPr>
            </a:pPr>
            <a:r>
              <a:t>05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58368" y="6382512"/>
            <a:ext cx="10817352" cy="0"/>
          </a:xfrm>
          <a:prstGeom prst="line">
            <a:avLst/>
          </a:prstGeom>
          <a:ln w="10160">
            <a:solidFill>
              <a:srgbClr val="D2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redrob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37160"/>
            <a:ext cx="10972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750" b="1">
                <a:solidFill>
                  <a:srgbClr val="117F5B"/>
                </a:solidFill>
                <a:latin typeface="Aptos"/>
              </a:defRPr>
            </a:pPr>
            <a:r>
              <a:t>WHO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91440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INDIA.RUNS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836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117F5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804672"/>
            <a:ext cx="9509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 Display"/>
              </a:defRPr>
            </a:pPr>
            <a:r>
              <a:t>Evidence Engine: From Profile Text to Supported Claims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243584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0">
                <a:solidFill>
                  <a:srgbClr val="5C677A"/>
                </a:solidFill>
                <a:latin typeface="Aptos"/>
              </a:defRPr>
            </a:pPr>
            <a:r>
              <a:t>A candidate is not ranked by a resume blob; it is converted into typed evidence that rules can inspect.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170078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011680"/>
            <a:ext cx="1444752" cy="2103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80" b="1">
                <a:solidFill>
                  <a:srgbClr val="0F172A"/>
                </a:solidFill>
                <a:latin typeface="Aptos"/>
              </a:defRPr>
            </a:pPr>
            <a:r>
              <a:t>Raw candidate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313432"/>
            <a:ext cx="1444752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850" b="0">
                <a:solidFill>
                  <a:srgbClr val="5C677A"/>
                </a:solidFill>
                <a:latin typeface="Aptos"/>
              </a:defRPr>
            </a:pPr>
            <a:r>
              <a:t>titles, roles, skills,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8" y="2157984"/>
            <a:ext cx="384048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8648" y="1828800"/>
            <a:ext cx="170078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6664" y="2011680"/>
            <a:ext cx="1444752" cy="2103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80" b="1">
                <a:solidFill>
                  <a:srgbClr val="0F172A"/>
                </a:solidFill>
                <a:latin typeface="Aptos"/>
              </a:defRPr>
            </a:pPr>
            <a:r>
              <a:t>Claim ledger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2313432"/>
            <a:ext cx="1444752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850" b="0">
                <a:solidFill>
                  <a:srgbClr val="5C677A"/>
                </a:solidFill>
                <a:latin typeface="Aptos"/>
              </a:defRPr>
            </a:pPr>
            <a:r>
              <a:t>typed claims + trust priors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2157984"/>
            <a:ext cx="384048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02936" y="1828800"/>
            <a:ext cx="170078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0952" y="2011680"/>
            <a:ext cx="1444752" cy="2103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80" b="1">
                <a:solidFill>
                  <a:srgbClr val="0F172A"/>
                </a:solidFill>
                <a:latin typeface="Aptos"/>
              </a:defRPr>
            </a:pPr>
            <a:r>
              <a:t>Sentence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2" y="2313432"/>
            <a:ext cx="1444752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850" b="0">
                <a:solidFill>
                  <a:srgbClr val="5C677A"/>
                </a:solidFill>
                <a:latin typeface="Aptos"/>
              </a:defRPr>
            </a:pPr>
            <a:r>
              <a:t>12 strongest career sentences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157984"/>
            <a:ext cx="384048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07224" y="1828800"/>
            <a:ext cx="170078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011680"/>
            <a:ext cx="1444752" cy="2103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80" b="1">
                <a:solidFill>
                  <a:srgbClr val="0F172A"/>
                </a:solidFill>
                <a:latin typeface="Aptos"/>
              </a:defRPr>
            </a:pPr>
            <a:r>
              <a:t>Predicate margins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313432"/>
            <a:ext cx="1444752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850" b="0">
                <a:solidFill>
                  <a:srgbClr val="5C677A"/>
                </a:solidFill>
                <a:latin typeface="Aptos"/>
              </a:defRPr>
            </a:pPr>
            <a:r>
              <a:t>positive query minus nearest negative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2157984"/>
            <a:ext cx="384048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11512" y="1828800"/>
            <a:ext cx="170078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39528" y="2011680"/>
            <a:ext cx="1444752" cy="2103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80" b="1">
                <a:solidFill>
                  <a:srgbClr val="0F172A"/>
                </a:solidFill>
                <a:latin typeface="Aptos"/>
              </a:defRPr>
            </a:pPr>
            <a:r>
              <a:t>Reasoning 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9528" y="2313432"/>
            <a:ext cx="1444752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850" b="0">
                <a:solidFill>
                  <a:srgbClr val="5C677A"/>
                </a:solidFill>
                <a:latin typeface="Aptos"/>
              </a:defRPr>
            </a:pPr>
            <a:r>
              <a:t>short factual explanation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401568"/>
            <a:ext cx="48920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3611880"/>
            <a:ext cx="42062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Trust is proportional to cost of faking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8992" y="4069080"/>
            <a:ext cx="713232" cy="411480"/>
          </a:xfrm>
          <a:prstGeom prst="roundRect">
            <a:avLst/>
          </a:prstGeom>
          <a:solidFill>
            <a:srgbClr val="DBF5EB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100" b="1">
                <a:solidFill>
                  <a:srgbClr val="117F5B"/>
                </a:solidFill>
                <a:latin typeface="Aptos"/>
              </a:defRPr>
            </a:pPr>
            <a:r>
              <a:t>0.95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4572000"/>
            <a:ext cx="1024128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780" b="0">
                <a:solidFill>
                  <a:srgbClr val="5C677A"/>
                </a:solidFill>
                <a:latin typeface="Aptos"/>
              </a:defRPr>
            </a:pPr>
            <a:r>
              <a:t>verified assessment / contact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57984" y="4069080"/>
            <a:ext cx="713232" cy="411480"/>
          </a:xfrm>
          <a:prstGeom prst="roundRect">
            <a:avLst/>
          </a:prstGeom>
          <a:solidFill>
            <a:srgbClr val="DCF7FA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100" b="1">
                <a:solidFill>
                  <a:srgbClr val="147E8B"/>
                </a:solidFill>
                <a:latin typeface="Aptos"/>
              </a:defRPr>
            </a:pPr>
            <a:r>
              <a:t>0.90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572000"/>
            <a:ext cx="1024128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780" b="0">
                <a:solidFill>
                  <a:srgbClr val="5C677A"/>
                </a:solidFill>
                <a:latin typeface="Aptos"/>
              </a:defRPr>
            </a:pPr>
            <a:r>
              <a:t>behavioral platform signals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36976" y="4069080"/>
            <a:ext cx="713232" cy="411480"/>
          </a:xfrm>
          <a:prstGeom prst="roundRect">
            <a:avLst/>
          </a:prstGeom>
          <a:solidFill>
            <a:srgbClr val="E0EB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100" b="1">
                <a:solidFill>
                  <a:srgbClr val="2563EB"/>
                </a:solidFill>
                <a:latin typeface="Aptos"/>
              </a:defRPr>
            </a:pPr>
            <a:r>
              <a:t>0.70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0672" y="4572000"/>
            <a:ext cx="1024128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780" b="0">
                <a:solidFill>
                  <a:srgbClr val="5C677A"/>
                </a:solidFill>
                <a:latin typeface="Aptos"/>
              </a:defRPr>
            </a:pPr>
            <a:r>
              <a:t>career narrative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15968" y="4069080"/>
            <a:ext cx="713232" cy="411480"/>
          </a:xfrm>
          <a:prstGeom prst="roundRect">
            <a:avLst/>
          </a:prstGeom>
          <a:solidFill>
            <a:srgbClr val="FFE8EB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100" b="1">
                <a:solidFill>
                  <a:srgbClr val="BE2D3C"/>
                </a:solidFill>
                <a:latin typeface="Aptos"/>
              </a:defRPr>
            </a:pPr>
            <a:r>
              <a:t>0.30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9664" y="4572000"/>
            <a:ext cx="1024128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780" b="0">
                <a:solidFill>
                  <a:srgbClr val="5C677A"/>
                </a:solidFill>
                <a:latin typeface="Aptos"/>
              </a:defRPr>
            </a:pPr>
            <a:r>
              <a:t>self-declared skills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401568"/>
            <a:ext cx="4617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2" y="3611880"/>
            <a:ext cx="4114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Predicate example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6832" y="4005072"/>
            <a:ext cx="40690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81F2C"/>
                </a:solidFill>
                <a:latin typeface="Aptos"/>
              </a:defRPr>
            </a:pPr>
            <a:r>
              <a:t>"rebuilt marketplace relevance scoring" fires shipped search/ranking even when no RAG or vector DB keyword appears.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56832" y="4681728"/>
            <a:ext cx="1325880" cy="292608"/>
          </a:xfrm>
          <a:prstGeom prst="roundRect">
            <a:avLst/>
          </a:prstGeom>
          <a:solidFill>
            <a:srgbClr val="DBF5EB"/>
          </a:solidFill>
          <a:ln w="12700">
            <a:solidFill>
              <a:srgbClr val="DB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880" b="1">
                <a:solidFill>
                  <a:srgbClr val="117F5B"/>
                </a:solidFill>
                <a:latin typeface="Aptos"/>
              </a:defRPr>
            </a:pPr>
            <a:r>
              <a:t>hidden-gem safe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19872" y="4681728"/>
            <a:ext cx="1417320" cy="292608"/>
          </a:xfrm>
          <a:prstGeom prst="roundRect">
            <a:avLst/>
          </a:prstGeom>
          <a:solidFill>
            <a:srgbClr val="FFE8EB"/>
          </a:solidFill>
          <a:ln w="12700">
            <a:solidFill>
              <a:srgbClr val="FF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880" b="1">
                <a:solidFill>
                  <a:srgbClr val="BE2D3C"/>
                </a:solidFill>
                <a:latin typeface="Aptos"/>
              </a:defRPr>
            </a:pPr>
            <a:r>
              <a:t>keyword-list ignored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27080" y="6510528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850" b="0">
                <a:solidFill>
                  <a:srgbClr val="5C677A"/>
                </a:solidFill>
                <a:latin typeface="Aptos"/>
              </a:defRPr>
            </a:pPr>
            <a:r>
              <a:t>06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58368" y="6382512"/>
            <a:ext cx="10817352" cy="0"/>
          </a:xfrm>
          <a:prstGeom prst="line">
            <a:avLst/>
          </a:prstGeom>
          <a:ln w="10160">
            <a:solidFill>
              <a:srgbClr val="D2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redrob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37160"/>
            <a:ext cx="10972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750" b="1">
                <a:solidFill>
                  <a:srgbClr val="117F5B"/>
                </a:solidFill>
                <a:latin typeface="Aptos"/>
              </a:defRPr>
            </a:pPr>
            <a:r>
              <a:t>WHO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91440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INDIA.RUNS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836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117F5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804672"/>
            <a:ext cx="9509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 Display"/>
              </a:defRPr>
            </a:pPr>
            <a:r>
              <a:t>Guardrails: How Honeypots and Stuffers Fall Out Naturally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243584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0">
                <a:solidFill>
                  <a:srgbClr val="5C677A"/>
                </a:solidFill>
                <a:latin typeface="Aptos"/>
              </a:defRPr>
            </a:pPr>
            <a:r>
              <a:t>No blocklist. The C-axis checks internal consistency and claim support, then the formula does the rest.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45920"/>
            <a:ext cx="20574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Trap class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645920"/>
            <a:ext cx="3749039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645920"/>
            <a:ext cx="498348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VERDICT guardrail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057400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defRPr sz="980" b="1">
                <a:solidFill>
                  <a:srgbClr val="181F2C"/>
                </a:solidFill>
                <a:latin typeface="Aptos"/>
              </a:defRPr>
            </a:pPr>
            <a:r>
              <a:t>Honeypot profile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057400"/>
            <a:ext cx="374903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defRPr sz="960" b="0">
                <a:solidFill>
                  <a:srgbClr val="181F2C"/>
                </a:solidFill>
                <a:latin typeface="Aptos"/>
              </a:defRPr>
            </a:pPr>
            <a:r>
              <a:t>Impossible timeline or expert skill with zero 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057400"/>
            <a:ext cx="4983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defRPr sz="960" b="0">
                <a:solidFill>
                  <a:srgbClr val="181F2C"/>
                </a:solidFill>
                <a:latin typeface="Aptos"/>
              </a:defRPr>
            </a:pPr>
            <a:r>
              <a:t>Temporal and duration contradictions collapse 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715768"/>
            <a:ext cx="20574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defRPr sz="980" b="1">
                <a:solidFill>
                  <a:srgbClr val="181F2C"/>
                </a:solidFill>
                <a:latin typeface="Aptos"/>
              </a:defRPr>
            </a:pPr>
            <a:r>
              <a:t>Keyword stuffer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15768"/>
            <a:ext cx="3749039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defRPr sz="960" b="0">
                <a:solidFill>
                  <a:srgbClr val="181F2C"/>
                </a:solidFill>
                <a:latin typeface="Aptos"/>
              </a:defRPr>
            </a:pPr>
            <a:r>
              <a:t>Skills list mirrors JD but career story does not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715768"/>
            <a:ext cx="498348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defRPr sz="960" b="0">
                <a:solidFill>
                  <a:srgbClr val="181F2C"/>
                </a:solidFill>
                <a:latin typeface="Aptos"/>
              </a:defRPr>
            </a:pPr>
            <a:r>
              <a:t>Self-declared skills low-trust; predicates read narrative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374136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defRPr sz="980" b="1">
                <a:solidFill>
                  <a:srgbClr val="181F2C"/>
                </a:solidFill>
                <a:latin typeface="Aptos"/>
              </a:defRPr>
            </a:pPr>
            <a:r>
              <a:t>Behavioral twin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374136"/>
            <a:ext cx="374903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defRPr sz="960" b="0">
                <a:solidFill>
                  <a:srgbClr val="181F2C"/>
                </a:solidFill>
                <a:latin typeface="Aptos"/>
              </a:defRPr>
            </a:pPr>
            <a:r>
              <a:t>Same profile quality, different reachability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374136"/>
            <a:ext cx="4983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defRPr sz="960" b="0">
                <a:solidFill>
                  <a:srgbClr val="181F2C"/>
                </a:solidFill>
                <a:latin typeface="Aptos"/>
              </a:defRPr>
            </a:pPr>
            <a:r>
              <a:t>A-axis separates response, recency, notice, verification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032504"/>
            <a:ext cx="20574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defRPr sz="980" b="1">
                <a:solidFill>
                  <a:srgbClr val="181F2C"/>
                </a:solidFill>
                <a:latin typeface="Aptos"/>
              </a:defRPr>
            </a:pPr>
            <a:r>
              <a:t>Consulting-only fit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4032504"/>
            <a:ext cx="3749039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defRPr sz="960" b="0">
                <a:solidFill>
                  <a:srgbClr val="181F2C"/>
                </a:solidFill>
                <a:latin typeface="Aptos"/>
              </a:defRPr>
            </a:pPr>
            <a:r>
              <a:t>AI terms present, product ownership absent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032504"/>
            <a:ext cx="498348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defRPr sz="960" b="0">
                <a:solidFill>
                  <a:srgbClr val="181F2C"/>
                </a:solidFill>
                <a:latin typeface="Aptos"/>
              </a:defRPr>
            </a:pPr>
            <a:r>
              <a:t>JD dampeners and product-tenure rules lower J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892040"/>
            <a:ext cx="2240280" cy="786384"/>
          </a:xfrm>
          <a:prstGeom prst="roundRect">
            <a:avLst/>
          </a:prstGeom>
          <a:solidFill>
            <a:srgbClr val="FFE8EB"/>
          </a:solidFill>
          <a:ln w="12700">
            <a:solidFill>
              <a:srgbClr val="FF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029200"/>
            <a:ext cx="7132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900" b="1">
                <a:solidFill>
                  <a:srgbClr val="BE2D3C"/>
                </a:solidFill>
                <a:latin typeface="Aptos"/>
              </a:defRPr>
            </a:pPr>
            <a:r>
              <a:t>480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5010912"/>
            <a:ext cx="12344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90" b="1">
                <a:solidFill>
                  <a:srgbClr val="181F2C"/>
                </a:solidFill>
                <a:latin typeface="Aptos"/>
              </a:defRPr>
            </a:pPr>
            <a:r>
              <a:t>contradictory profiles detected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56432" y="4892040"/>
            <a:ext cx="2240280" cy="786384"/>
          </a:xfrm>
          <a:prstGeom prst="roundRect">
            <a:avLst/>
          </a:prstGeom>
          <a:solidFill>
            <a:srgbClr val="DBF5EB"/>
          </a:solidFill>
          <a:ln w="12700">
            <a:solidFill>
              <a:srgbClr val="DB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5029200"/>
            <a:ext cx="7132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900" b="1">
                <a:solidFill>
                  <a:srgbClr val="117F5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5010912"/>
            <a:ext cx="12344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90" b="1">
                <a:solidFill>
                  <a:srgbClr val="181F2C"/>
                </a:solidFill>
                <a:latin typeface="Aptos"/>
              </a:defRPr>
            </a:pPr>
            <a:r>
              <a:t>honeypots leaked into top 100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4892040"/>
            <a:ext cx="2240280" cy="786384"/>
          </a:xfrm>
          <a:prstGeom prst="roundRect">
            <a:avLst/>
          </a:prstGeom>
          <a:solidFill>
            <a:srgbClr val="E0EBFF"/>
          </a:solidFill>
          <a:ln w="12700">
            <a:solidFill>
              <a:srgbClr val="E0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5029200"/>
            <a:ext cx="7132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900" b="1">
                <a:solidFill>
                  <a:srgbClr val="2563EB"/>
                </a:solidFill>
                <a:latin typeface="Aptos"/>
              </a:defRPr>
            </a:pPr>
            <a:r>
              <a:t>58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5010912"/>
            <a:ext cx="12344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90" b="1">
                <a:solidFill>
                  <a:srgbClr val="181F2C"/>
                </a:solidFill>
                <a:latin typeface="Aptos"/>
              </a:defRPr>
            </a:pPr>
            <a:r>
              <a:t>hidden-gem candidates retained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42832" y="4892040"/>
            <a:ext cx="2240280" cy="786384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FFF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59" y="5029200"/>
            <a:ext cx="7132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900" b="1">
                <a:solidFill>
                  <a:srgbClr val="B47414"/>
                </a:solidFill>
                <a:latin typeface="Aptos"/>
              </a:defRPr>
            </a:pPr>
            <a:r>
              <a:t>1,420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5010912"/>
            <a:ext cx="12344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90" b="1">
                <a:solidFill>
                  <a:srgbClr val="181F2C"/>
                </a:solidFill>
                <a:latin typeface="Aptos"/>
              </a:defRPr>
            </a:pPr>
            <a:r>
              <a:t>stale + low-response risks downweighted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510528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850" b="0">
                <a:solidFill>
                  <a:srgbClr val="5C677A"/>
                </a:solidFill>
                <a:latin typeface="Aptos"/>
              </a:defRPr>
            </a:pPr>
            <a:r>
              <a:t>07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8368" y="6382512"/>
            <a:ext cx="10817352" cy="0"/>
          </a:xfrm>
          <a:prstGeom prst="line">
            <a:avLst/>
          </a:prstGeom>
          <a:ln w="10160">
            <a:solidFill>
              <a:srgbClr val="D2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redrob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37160"/>
            <a:ext cx="10972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750" b="1">
                <a:solidFill>
                  <a:srgbClr val="117F5B"/>
                </a:solidFill>
                <a:latin typeface="Aptos"/>
              </a:defRPr>
            </a:pPr>
            <a:r>
              <a:t>WHO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91440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INDIA.RUNS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836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117F5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804672"/>
            <a:ext cx="9509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 Display"/>
              </a:defRPr>
            </a:pPr>
            <a:r>
              <a:t>Availability: Strong on Paper Is Not Enough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243584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0">
                <a:solidFill>
                  <a:srgbClr val="5C677A"/>
                </a:solidFill>
                <a:latin typeface="Aptos"/>
              </a:defRPr>
            </a:pPr>
            <a:r>
              <a:t>The 23 Redrob signals become a practical hiring forecast rather than cosmetic metadata.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37360"/>
            <a:ext cx="4800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1956815"/>
            <a:ext cx="493776" cy="493776"/>
          </a:xfrm>
          <a:prstGeom prst="roundRect">
            <a:avLst/>
          </a:prstGeom>
          <a:solidFill>
            <a:srgbClr val="E0EBFF"/>
          </a:solidFill>
          <a:ln w="12700">
            <a:solidFill>
              <a:srgbClr val="E0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500" b="1">
                <a:solidFill>
                  <a:srgbClr val="2563E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1901952"/>
            <a:ext cx="3474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Aptos"/>
              </a:defRPr>
            </a:pPr>
            <a:r>
              <a:t>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2240280"/>
            <a:ext cx="356616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60" b="0">
                <a:solidFill>
                  <a:srgbClr val="181F2C"/>
                </a:solidFill>
                <a:latin typeface="Aptos"/>
              </a:defRPr>
            </a:pPr>
            <a:r>
              <a:t>last active, open-to-work, applications, profile 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37360"/>
            <a:ext cx="4800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73368" y="1956815"/>
            <a:ext cx="493776" cy="493776"/>
          </a:xfrm>
          <a:prstGeom prst="roundRect">
            <a:avLst/>
          </a:prstGeom>
          <a:solidFill>
            <a:srgbClr val="DBF5EB"/>
          </a:solidFill>
          <a:ln w="12700">
            <a:solidFill>
              <a:srgbClr val="DB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500" b="1">
                <a:solidFill>
                  <a:srgbClr val="117F5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1901952"/>
            <a:ext cx="3474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117F5B"/>
                </a:solidFill>
                <a:latin typeface="Aptos"/>
              </a:defRPr>
            </a:pPr>
            <a:r>
              <a:t>Responsiveness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2240280"/>
            <a:ext cx="356616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60" b="0">
                <a:solidFill>
                  <a:srgbClr val="181F2C"/>
                </a:solidFill>
                <a:latin typeface="Aptos"/>
              </a:defRPr>
            </a:pPr>
            <a:r>
              <a:t>recruiter response rate, response time, interview completion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154680"/>
            <a:ext cx="4800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4128" y="3374136"/>
            <a:ext cx="493776" cy="493776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FFF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500" b="1">
                <a:solidFill>
                  <a:srgbClr val="B4741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3319272"/>
            <a:ext cx="3474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B47414"/>
                </a:solidFill>
                <a:latin typeface="Aptos"/>
              </a:defRPr>
            </a:pPr>
            <a:r>
              <a:t>Logistics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3657600"/>
            <a:ext cx="356616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60" b="0">
                <a:solidFill>
                  <a:srgbClr val="181F2C"/>
                </a:solidFill>
                <a:latin typeface="Aptos"/>
              </a:defRPr>
            </a:pPr>
            <a:r>
              <a:t>notice period, work mode, relocation, salary range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154680"/>
            <a:ext cx="4800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73368" y="3374136"/>
            <a:ext cx="493776" cy="493776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500" b="1">
                <a:solidFill>
                  <a:srgbClr val="6D28D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3319272"/>
            <a:ext cx="3474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6D28D9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8" y="3657600"/>
            <a:ext cx="356616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60" b="0">
                <a:solidFill>
                  <a:srgbClr val="181F2C"/>
                </a:solidFill>
                <a:latin typeface="Aptos"/>
              </a:defRPr>
            </a:pPr>
            <a:r>
              <a:t>email, phone, LinkedIn, GitHub, assessment signals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4892040"/>
            <a:ext cx="9921240" cy="658368"/>
          </a:xfrm>
          <a:prstGeom prst="roundRect">
            <a:avLst/>
          </a:prstGeom>
          <a:solidFill>
            <a:srgbClr val="FFE8EB"/>
          </a:solidFill>
          <a:ln w="12700">
            <a:solidFill>
              <a:srgbClr val="FF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074920"/>
            <a:ext cx="93268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20" b="1">
                <a:solidFill>
                  <a:srgbClr val="BE2D3C"/>
                </a:solidFill>
                <a:latin typeface="Aptos"/>
              </a:defRPr>
            </a:pPr>
            <a:r>
              <a:t>Example: a perfect-on-paper candidate with 6 months inactive and 5% response rate is downweighted because they are not actually available.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27080" y="6510528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850" b="0">
                <a:solidFill>
                  <a:srgbClr val="5C677A"/>
                </a:solidFill>
                <a:latin typeface="Aptos"/>
              </a:defRPr>
            </a:pPr>
            <a:r>
              <a:t>08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6382512"/>
            <a:ext cx="10817352" cy="0"/>
          </a:xfrm>
          <a:prstGeom prst="line">
            <a:avLst/>
          </a:prstGeom>
          <a:ln w="10160">
            <a:solidFill>
              <a:srgbClr val="D2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redrob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37160"/>
            <a:ext cx="10972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750" b="1">
                <a:solidFill>
                  <a:srgbClr val="117F5B"/>
                </a:solidFill>
                <a:latin typeface="Aptos"/>
              </a:defRPr>
            </a:pPr>
            <a:r>
              <a:t>WHO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91440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INDIA.RUNS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836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117F5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804672"/>
            <a:ext cx="9509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 Display"/>
              </a:defRPr>
            </a:pPr>
            <a:r>
              <a:t>End-to-End Workflow: Offline Intelligence, Fast Reproducible Rank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243584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0">
                <a:solidFill>
                  <a:srgbClr val="5C677A"/>
                </a:solidFill>
                <a:latin typeface="Aptos"/>
              </a:defRPr>
            </a:pPr>
            <a:r>
              <a:t>The expensive thinking is converted into artifacts before the constrained submission 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108356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92224"/>
            <a:ext cx="1188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6D28D9"/>
                </a:solidFill>
                <a:latin typeface="Aptos"/>
              </a:defRPr>
            </a:pPr>
            <a:r>
              <a:t>OFFLINE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1965960"/>
            <a:ext cx="1508760" cy="56692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2057400"/>
            <a:ext cx="13258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40" b="1">
                <a:solidFill>
                  <a:srgbClr val="6D28D9"/>
                </a:solidFill>
                <a:latin typeface="Aptos"/>
              </a:defRPr>
            </a:pPr>
            <a:r>
              <a:t>JD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2304288"/>
            <a:ext cx="1362456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770" b="0">
                <a:solidFill>
                  <a:srgbClr val="181F2C"/>
                </a:solidFill>
                <a:latin typeface="Aptos"/>
              </a:defRPr>
            </a:pPr>
            <a:r>
              <a:t>rubric_program.json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121408"/>
            <a:ext cx="27432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5C677A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1965960"/>
            <a:ext cx="1508760" cy="56692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057400"/>
            <a:ext cx="13258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40" b="1">
                <a:solidFill>
                  <a:srgbClr val="6D28D9"/>
                </a:solidFill>
                <a:latin typeface="Aptos"/>
              </a:defRPr>
            </a:pPr>
            <a:r>
              <a:t>candidate pool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7952" y="2304288"/>
            <a:ext cx="1362456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770" b="0">
                <a:solidFill>
                  <a:srgbClr val="181F2C"/>
                </a:solidFill>
                <a:latin typeface="Aptos"/>
              </a:defRPr>
            </a:pPr>
            <a:r>
              <a:t>claim ledger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7568" y="2121408"/>
            <a:ext cx="27432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5C677A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965960"/>
            <a:ext cx="1508760" cy="56692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057400"/>
            <a:ext cx="13258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40" b="1">
                <a:solidFill>
                  <a:srgbClr val="6D28D9"/>
                </a:solidFill>
                <a:latin typeface="Aptos"/>
              </a:defRPr>
            </a:pPr>
            <a:r>
              <a:t>evidence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2304288"/>
            <a:ext cx="1362456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770" b="0">
                <a:solidFill>
                  <a:srgbClr val="181F2C"/>
                </a:solidFill>
                <a:latin typeface="Aptos"/>
              </a:defRPr>
            </a:pPr>
            <a:r>
              <a:t>sentence vectors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4968" y="2121408"/>
            <a:ext cx="27432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5C677A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965960"/>
            <a:ext cx="1508760" cy="56692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057400"/>
            <a:ext cx="13258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40" b="1">
                <a:solidFill>
                  <a:srgbClr val="6D28D9"/>
                </a:solidFill>
                <a:latin typeface="Aptos"/>
              </a:defRPr>
            </a:pPr>
            <a:r>
              <a:t>audits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304288"/>
            <a:ext cx="1362456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770" b="0">
                <a:solidFill>
                  <a:srgbClr val="181F2C"/>
                </a:solidFill>
                <a:latin typeface="Aptos"/>
              </a:defRPr>
            </a:pPr>
            <a:r>
              <a:t>quality gates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703320"/>
            <a:ext cx="108356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895344"/>
            <a:ext cx="1188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17F5B"/>
                </a:solidFill>
                <a:latin typeface="Aptos"/>
              </a:defRPr>
            </a:pPr>
            <a:r>
              <a:t>RANK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57400" y="4069080"/>
            <a:ext cx="1508760" cy="566928"/>
          </a:xfrm>
          <a:prstGeom prst="roundRect">
            <a:avLst/>
          </a:prstGeom>
          <a:solidFill>
            <a:srgbClr val="DBF5EB"/>
          </a:solidFill>
          <a:ln w="12700">
            <a:solidFill>
              <a:srgbClr val="DB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48840" y="4160520"/>
            <a:ext cx="13258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40" b="1">
                <a:solidFill>
                  <a:srgbClr val="117F5B"/>
                </a:solidFill>
                <a:latin typeface="Aptos"/>
              </a:defRPr>
            </a:pPr>
            <a:r>
              <a:t>load artifacts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30552" y="4407408"/>
            <a:ext cx="1362456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770" b="0">
                <a:solidFill>
                  <a:srgbClr val="181F2C"/>
                </a:solidFill>
                <a:latin typeface="Aptos"/>
              </a:defRPr>
            </a:pPr>
            <a:r>
              <a:t>mmap + numpy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0168" y="4224528"/>
            <a:ext cx="27432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5C677A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0" y="4069080"/>
            <a:ext cx="1508760" cy="566928"/>
          </a:xfrm>
          <a:prstGeom prst="roundRect">
            <a:avLst/>
          </a:prstGeom>
          <a:solidFill>
            <a:srgbClr val="DBF5EB"/>
          </a:solidFill>
          <a:ln w="12700">
            <a:solidFill>
              <a:srgbClr val="DB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4160520"/>
            <a:ext cx="13258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40" b="1">
                <a:solidFill>
                  <a:srgbClr val="117F5B"/>
                </a:solidFill>
                <a:latin typeface="Aptos"/>
              </a:defRPr>
            </a:pPr>
            <a:r>
              <a:t>gate and recall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7952" y="4407408"/>
            <a:ext cx="1362456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770" b="0">
                <a:solidFill>
                  <a:srgbClr val="181F2C"/>
                </a:solidFill>
                <a:latin typeface="Aptos"/>
              </a:defRPr>
            </a:pPr>
            <a:r>
              <a:t>100K -&gt; head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7568" y="4224528"/>
            <a:ext cx="27432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5C677A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4069080"/>
            <a:ext cx="1508760" cy="566928"/>
          </a:xfrm>
          <a:prstGeom prst="roundRect">
            <a:avLst/>
          </a:prstGeom>
          <a:solidFill>
            <a:srgbClr val="DBF5EB"/>
          </a:solidFill>
          <a:ln w="12700">
            <a:solidFill>
              <a:srgbClr val="DB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160520"/>
            <a:ext cx="13258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40" b="1">
                <a:solidFill>
                  <a:srgbClr val="117F5B"/>
                </a:solidFill>
                <a:latin typeface="Aptos"/>
              </a:defRPr>
            </a:pPr>
            <a:r>
              <a:t>fuse J x C x 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5352" y="4407408"/>
            <a:ext cx="1362456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770" b="0">
                <a:solidFill>
                  <a:srgbClr val="181F2C"/>
                </a:solidFill>
                <a:latin typeface="Aptos"/>
              </a:defRPr>
            </a:pPr>
            <a:r>
              <a:t>log-space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4968" y="4224528"/>
            <a:ext cx="27432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5C677A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4069080"/>
            <a:ext cx="1508760" cy="566928"/>
          </a:xfrm>
          <a:prstGeom prst="roundRect">
            <a:avLst/>
          </a:prstGeom>
          <a:solidFill>
            <a:srgbClr val="DBF5EB"/>
          </a:solidFill>
          <a:ln w="12700">
            <a:solidFill>
              <a:srgbClr val="DB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4160520"/>
            <a:ext cx="13258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40" b="1">
                <a:solidFill>
                  <a:srgbClr val="117F5B"/>
                </a:solidFill>
                <a:latin typeface="Aptos"/>
              </a:defRPr>
            </a:pPr>
            <a:r>
              <a:t>write CSV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2752" y="4407408"/>
            <a:ext cx="1362456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770" b="0">
                <a:solidFill>
                  <a:srgbClr val="181F2C"/>
                </a:solidFill>
                <a:latin typeface="Aptos"/>
              </a:defRPr>
            </a:pPr>
            <a:r>
              <a:t>top 100 + reasons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34640" y="5715000"/>
            <a:ext cx="6492240" cy="384048"/>
          </a:xfrm>
          <a:prstGeom prst="roundRect">
            <a:avLst/>
          </a:prstGeom>
          <a:solidFill>
            <a:srgbClr val="E0EBFF"/>
          </a:solidFill>
          <a:ln w="12700">
            <a:solidFill>
              <a:srgbClr val="E0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63240" y="5815584"/>
            <a:ext cx="6035040" cy="1280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80" b="1">
                <a:solidFill>
                  <a:srgbClr val="2563EB"/>
                </a:solidFill>
                <a:latin typeface="Aptos"/>
              </a:defRPr>
            </a:pPr>
            <a:r>
              <a:t>Submission-time path is deterministic, auditable, CPU-only, and network-free.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27080" y="6510528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850" b="0">
                <a:solidFill>
                  <a:srgbClr val="5C677A"/>
                </a:solidFill>
                <a:latin typeface="Aptos"/>
              </a:defRPr>
            </a:pPr>
            <a:r>
              <a:t>09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58368" y="6382512"/>
            <a:ext cx="10817352" cy="0"/>
          </a:xfrm>
          <a:prstGeom prst="line">
            <a:avLst/>
          </a:prstGeom>
          <a:ln w="10160">
            <a:solidFill>
              <a:srgbClr val="D2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redrob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37160"/>
            <a:ext cx="10972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750" b="1">
                <a:solidFill>
                  <a:srgbClr val="117F5B"/>
                </a:solidFill>
                <a:latin typeface="Aptos"/>
              </a:defRPr>
            </a:pPr>
            <a:r>
              <a:t>WHO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91440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INDIA.RUNS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836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117F5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804672"/>
            <a:ext cx="9509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 Display"/>
              </a:defRPr>
            </a:pPr>
            <a:r>
              <a:t>System Architecture: Layered, Auditable, Repo-Native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243584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0">
                <a:solidFill>
                  <a:srgbClr val="5C677A"/>
                </a:solidFill>
                <a:latin typeface="Aptos"/>
              </a:defRPr>
            </a:pPr>
            <a:r>
              <a:t>Each layer has a bounded contract and a scriptable receipt for the interview.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08760"/>
            <a:ext cx="3749039" cy="47548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618488"/>
            <a:ext cx="141732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40" b="1">
                <a:solidFill>
                  <a:srgbClr val="6D28D9"/>
                </a:solidFill>
                <a:latin typeface="Aptos"/>
              </a:defRPr>
            </a:pPr>
            <a:r>
              <a:t>L0 Feel Compiler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618488"/>
            <a:ext cx="192024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19" b="0">
                <a:solidFill>
                  <a:srgbClr val="181F2C"/>
                </a:solidFill>
                <a:latin typeface="Aptos"/>
              </a:defRPr>
            </a:pPr>
            <a:r>
              <a:t>JD -&gt; rubric + hypotheses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67128"/>
            <a:ext cx="3749039" cy="475488"/>
          </a:xfrm>
          <a:prstGeom prst="roundRect">
            <a:avLst/>
          </a:prstGeom>
          <a:solidFill>
            <a:srgbClr val="E0EBFF"/>
          </a:solidFill>
          <a:ln w="12700">
            <a:solidFill>
              <a:srgbClr val="E0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276856"/>
            <a:ext cx="141732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40" b="1">
                <a:solidFill>
                  <a:srgbClr val="2563EB"/>
                </a:solidFill>
                <a:latin typeface="Aptos"/>
              </a:defRPr>
            </a:pPr>
            <a:r>
              <a:t>L1 Evidence Builder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276856"/>
            <a:ext cx="192024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19" b="0">
                <a:solidFill>
                  <a:srgbClr val="181F2C"/>
                </a:solidFill>
                <a:latin typeface="Aptos"/>
              </a:defRPr>
            </a:pPr>
            <a:r>
              <a:t>JSON -&gt; claim ledger + vectors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825496"/>
            <a:ext cx="3749039" cy="475488"/>
          </a:xfrm>
          <a:prstGeom prst="roundRect">
            <a:avLst/>
          </a:prstGeom>
          <a:solidFill>
            <a:srgbClr val="FFE8EB"/>
          </a:solidFill>
          <a:ln w="12700">
            <a:solidFill>
              <a:srgbClr val="FF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935224"/>
            <a:ext cx="141732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40" b="1">
                <a:solidFill>
                  <a:srgbClr val="BE2D3C"/>
                </a:solidFill>
                <a:latin typeface="Aptos"/>
              </a:defRPr>
            </a:pPr>
            <a:r>
              <a:t>L2 Credibility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935224"/>
            <a:ext cx="192024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19" b="0">
                <a:solidFill>
                  <a:srgbClr val="181F2C"/>
                </a:solidFill>
                <a:latin typeface="Aptos"/>
              </a:defRPr>
            </a:pPr>
            <a:r>
              <a:t>contradictions, stuffing,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83864"/>
            <a:ext cx="3749039" cy="475488"/>
          </a:xfrm>
          <a:prstGeom prst="roundRect">
            <a:avLst/>
          </a:prstGeom>
          <a:solidFill>
            <a:srgbClr val="DCF7FA"/>
          </a:solidFill>
          <a:ln w="12700">
            <a:solidFill>
              <a:srgbClr val="DC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593592"/>
            <a:ext cx="141732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40" b="1">
                <a:solidFill>
                  <a:srgbClr val="147E8B"/>
                </a:solidFill>
                <a:latin typeface="Aptos"/>
              </a:defRPr>
            </a:pPr>
            <a:r>
              <a:t>L3 Judgment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593592"/>
            <a:ext cx="192024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19" b="0">
                <a:solidFill>
                  <a:srgbClr val="181F2C"/>
                </a:solidFill>
                <a:latin typeface="Aptos"/>
              </a:defRPr>
            </a:pPr>
            <a:r>
              <a:t>rules + predicates + dampeners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42231"/>
            <a:ext cx="3749039" cy="475488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FFF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251959"/>
            <a:ext cx="141732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40" b="1">
                <a:solidFill>
                  <a:srgbClr val="B47414"/>
                </a:solidFill>
                <a:latin typeface="Aptos"/>
              </a:defRPr>
            </a:pPr>
            <a:r>
              <a:t>L4 Availability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251959"/>
            <a:ext cx="192024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19" b="0">
                <a:solidFill>
                  <a:srgbClr val="181F2C"/>
                </a:solidFill>
                <a:latin typeface="Aptos"/>
              </a:defRPr>
            </a:pPr>
            <a:r>
              <a:t>behavioral and logistics model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800600"/>
            <a:ext cx="3749039" cy="475488"/>
          </a:xfrm>
          <a:prstGeom prst="roundRect">
            <a:avLst/>
          </a:prstGeom>
          <a:solidFill>
            <a:srgbClr val="DBF5EB"/>
          </a:solidFill>
          <a:ln w="12700">
            <a:solidFill>
              <a:srgbClr val="DB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910328"/>
            <a:ext cx="141732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40" b="1">
                <a:solidFill>
                  <a:srgbClr val="117F5B"/>
                </a:solidFill>
                <a:latin typeface="Aptos"/>
              </a:defRPr>
            </a:pPr>
            <a:r>
              <a:t>L5 Fusion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910328"/>
            <a:ext cx="192024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19" b="0">
                <a:solidFill>
                  <a:srgbClr val="181F2C"/>
                </a:solidFill>
                <a:latin typeface="Aptos"/>
              </a:defRPr>
            </a:pPr>
            <a:r>
              <a:t>J x C x A + tournament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32120" y="1508760"/>
            <a:ext cx="5394960" cy="4005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1737360"/>
            <a:ext cx="47548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Implementation map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06440" y="2176272"/>
            <a:ext cx="1325880" cy="292608"/>
          </a:xfrm>
          <a:prstGeom prst="roundRect">
            <a:avLst/>
          </a:prstGeom>
          <a:solidFill>
            <a:srgbClr val="E0EBFF"/>
          </a:solidFill>
          <a:ln w="12700">
            <a:solidFill>
              <a:srgbClr val="E0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880" b="1">
                <a:solidFill>
                  <a:srgbClr val="2563EB"/>
                </a:solidFill>
                <a:latin typeface="Aptos"/>
              </a:defRPr>
            </a:pPr>
            <a:r>
              <a:t>rank.py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2231136"/>
            <a:ext cx="3063240" cy="137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181F2C"/>
                </a:solidFill>
                <a:latin typeface="Aptos"/>
              </a:defRPr>
            </a:pPr>
            <a:r>
              <a:t>constrained rank step and CSV writer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06440" y="2706624"/>
            <a:ext cx="1325880" cy="292608"/>
          </a:xfrm>
          <a:prstGeom prst="roundRect">
            <a:avLst/>
          </a:prstGeom>
          <a:solidFill>
            <a:srgbClr val="E0EBFF"/>
          </a:solidFill>
          <a:ln w="12700">
            <a:solidFill>
              <a:srgbClr val="E0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880" b="1">
                <a:solidFill>
                  <a:srgbClr val="2563EB"/>
                </a:solidFill>
                <a:latin typeface="Aptos"/>
              </a:defRPr>
            </a:pPr>
            <a:r>
              <a:t>precompute.py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2761488"/>
            <a:ext cx="3063240" cy="137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181F2C"/>
                </a:solidFill>
                <a:latin typeface="Aptos"/>
              </a:defRPr>
            </a:pPr>
            <a:r>
              <a:t>offline embeddings and artifact build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06440" y="3236976"/>
            <a:ext cx="1325880" cy="292608"/>
          </a:xfrm>
          <a:prstGeom prst="roundRect">
            <a:avLst/>
          </a:prstGeom>
          <a:solidFill>
            <a:srgbClr val="DBF5EB"/>
          </a:solidFill>
          <a:ln w="12700">
            <a:solidFill>
              <a:srgbClr val="DB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880" b="1">
                <a:solidFill>
                  <a:srgbClr val="117F5B"/>
                </a:solidFill>
                <a:latin typeface="Aptos"/>
              </a:defRPr>
            </a:pPr>
            <a:r>
              <a:t>src/verdict/*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291840"/>
            <a:ext cx="3063240" cy="137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181F2C"/>
                </a:solidFill>
                <a:latin typeface="Aptos"/>
              </a:defRPr>
            </a:pPr>
            <a:r>
              <a:t>rubric, claims, scoring, twins, audits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06440" y="3767327"/>
            <a:ext cx="1325880" cy="292608"/>
          </a:xfrm>
          <a:prstGeom prst="roundRect">
            <a:avLst/>
          </a:prstGeom>
          <a:solidFill>
            <a:srgbClr val="DBF5EB"/>
          </a:solidFill>
          <a:ln w="12700">
            <a:solidFill>
              <a:srgbClr val="DB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880" b="1">
                <a:solidFill>
                  <a:srgbClr val="117F5B"/>
                </a:solidFill>
                <a:latin typeface="Aptos"/>
              </a:defRPr>
            </a:pPr>
            <a:r>
              <a:t>scripts/audit_*.py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3822191"/>
            <a:ext cx="3063240" cy="137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181F2C"/>
                </a:solidFill>
                <a:latin typeface="Aptos"/>
              </a:defRPr>
            </a:pPr>
            <a:r>
              <a:t>honeypot, hidden-gem, quality gates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06440" y="4297679"/>
            <a:ext cx="1325880" cy="292608"/>
          </a:xfrm>
          <a:prstGeom prst="roundRect">
            <a:avLst/>
          </a:prstGeom>
          <a:solidFill>
            <a:srgbClr val="DBF5EB"/>
          </a:solidFill>
          <a:ln w="12700">
            <a:solidFill>
              <a:srgbClr val="DB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880" b="1">
                <a:solidFill>
                  <a:srgbClr val="117F5B"/>
                </a:solidFill>
                <a:latin typeface="Aptos"/>
              </a:defRPr>
            </a:pPr>
            <a:r>
              <a:t>sandbox_app.py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352543"/>
            <a:ext cx="3063240" cy="137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181F2C"/>
                </a:solidFill>
                <a:latin typeface="Aptos"/>
              </a:defRPr>
            </a:pPr>
            <a:r>
              <a:t>small-sample runnable demo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1828800"/>
            <a:ext cx="329184" cy="1097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5C677A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3168" y="2487168"/>
            <a:ext cx="329184" cy="1097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5C677A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73168" y="3145536"/>
            <a:ext cx="329184" cy="1097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5C677A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73168" y="3803904"/>
            <a:ext cx="329184" cy="1097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5C677A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73168" y="4462272"/>
            <a:ext cx="329184" cy="1097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5C677A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73168" y="5120640"/>
            <a:ext cx="329184" cy="1097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5C677A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27080" y="6510528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850" b="0">
                <a:solidFill>
                  <a:srgbClr val="5C677A"/>
                </a:solidFill>
                <a:latin typeface="Aptos"/>
              </a:defRPr>
            </a:pPr>
            <a:r>
              <a:t>10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58368" y="6382512"/>
            <a:ext cx="10817352" cy="0"/>
          </a:xfrm>
          <a:prstGeom prst="line">
            <a:avLst/>
          </a:prstGeom>
          <a:ln w="10160">
            <a:solidFill>
              <a:srgbClr val="D2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redrob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37160"/>
            <a:ext cx="10972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750" b="1">
                <a:solidFill>
                  <a:srgbClr val="117F5B"/>
                </a:solidFill>
                <a:latin typeface="Aptos"/>
              </a:defRPr>
            </a:pPr>
            <a:r>
              <a:t>WHO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91440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INDIA.RUNS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836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117F5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804672"/>
            <a:ext cx="9509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 Display"/>
              </a:defRPr>
            </a:pPr>
            <a:r>
              <a:t>Results and Submission 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243584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0">
                <a:solidFill>
                  <a:srgbClr val="5C677A"/>
                </a:solidFill>
                <a:latin typeface="Aptos"/>
              </a:defRPr>
            </a:pPr>
            <a:r>
              <a:t>The final package is runnable, validated, and ready to defend.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154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10512"/>
            <a:ext cx="96012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Aptos"/>
              </a:defRPr>
            </a:pPr>
            <a:r>
              <a:t>100K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828800"/>
            <a:ext cx="1572768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19" b="1">
                <a:solidFill>
                  <a:srgbClr val="181F2C"/>
                </a:solidFill>
                <a:latin typeface="Aptos"/>
              </a:defRPr>
            </a:pPr>
            <a:r>
              <a:t>full pool ranked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45920"/>
            <a:ext cx="3154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810512"/>
            <a:ext cx="96012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117F5B"/>
                </a:solidFill>
                <a:latin typeface="Aptos"/>
              </a:defRPr>
            </a:pPr>
            <a:r>
              <a:t>~14s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79" y="1828800"/>
            <a:ext cx="1572768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19" b="1">
                <a:solidFill>
                  <a:srgbClr val="181F2C"/>
                </a:solidFill>
                <a:latin typeface="Aptos"/>
              </a:defRPr>
            </a:pPr>
            <a:r>
              <a:t>CPU rank 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45920"/>
            <a:ext cx="3154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810512"/>
            <a:ext cx="96012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6D28D9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1828800"/>
            <a:ext cx="1572768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19" b="1">
                <a:solidFill>
                  <a:srgbClr val="181F2C"/>
                </a:solidFill>
                <a:latin typeface="Aptos"/>
              </a:defRPr>
            </a:pPr>
            <a:r>
              <a:t>top-100 honeypot leak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788920"/>
            <a:ext cx="3154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2953512"/>
            <a:ext cx="96012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B47414"/>
                </a:solidFill>
                <a:latin typeface="Aptos"/>
              </a:defRPr>
            </a:pPr>
            <a:r>
              <a:t>&lt;=16GB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2971800"/>
            <a:ext cx="1572768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19" b="1">
                <a:solidFill>
                  <a:srgbClr val="181F2C"/>
                </a:solidFill>
                <a:latin typeface="Aptos"/>
              </a:defRPr>
            </a:pPr>
            <a:r>
              <a:t>memory budget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2788920"/>
            <a:ext cx="3154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7" y="2953512"/>
            <a:ext cx="96012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147E8B"/>
                </a:solidFill>
                <a:latin typeface="Aptos"/>
              </a:defRPr>
            </a:pPr>
            <a:r>
              <a:t>Top 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79" y="2971800"/>
            <a:ext cx="1572768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19" b="1">
                <a:solidFill>
                  <a:srgbClr val="181F2C"/>
                </a:solidFill>
                <a:latin typeface="Aptos"/>
              </a:defRPr>
            </a:pPr>
            <a:r>
              <a:t>team_verdict.csv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788920"/>
            <a:ext cx="3154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8" y="2953512"/>
            <a:ext cx="96012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BE2D3C"/>
                </a:solidFill>
                <a:latin typeface="Aptos"/>
              </a:defRPr>
            </a:pPr>
            <a:r>
              <a:t>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971800"/>
            <a:ext cx="1572768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19" b="1">
                <a:solidFill>
                  <a:srgbClr val="181F2C"/>
                </a:solidFill>
                <a:latin typeface="Aptos"/>
              </a:defRPr>
            </a:pPr>
            <a:r>
              <a:t>Streamlit sandbox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" y="4251960"/>
            <a:ext cx="1014984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4526280"/>
            <a:ext cx="950976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BAE6FD"/>
                </a:solidFill>
                <a:latin typeface="Aptos"/>
              </a:defRPr>
            </a:pPr>
            <a:r>
              <a:t>Submission assets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864608"/>
            <a:ext cx="950976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60" b="0">
                <a:solidFill>
                  <a:srgbClr val="FFFFFF"/>
                </a:solidFill>
                <a:latin typeface="Aptos"/>
              </a:defRPr>
            </a:pPr>
            <a:r>
              <a:t>CSV: output/team_verdict.csv   |   Metadata: submission_metadata.yaml   |   Repo: Harsh-dev3221/RedORB-hackathon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175504"/>
            <a:ext cx="950976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60" b="0">
                <a:solidFill>
                  <a:srgbClr val="FFFFFF"/>
                </a:solidFill>
                <a:latin typeface="Aptos"/>
              </a:defRPr>
            </a:pPr>
            <a:r>
              <a:t>Sandbox: https://redorb-hackathon-easy.streamlit.app   |   Demo ranks bundled/uploaded &lt;=100 samples to top 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27080" y="6510528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850" b="0">
                <a:solidFill>
                  <a:srgbClr val="5C677A"/>
                </a:solidFill>
                <a:latin typeface="Aptos"/>
              </a:defRPr>
            </a:pPr>
            <a:r>
              <a:t>11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8368" y="6382512"/>
            <a:ext cx="10817352" cy="0"/>
          </a:xfrm>
          <a:prstGeom prst="line">
            <a:avLst/>
          </a:prstGeom>
          <a:ln w="10160">
            <a:solidFill>
              <a:srgbClr val="D2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